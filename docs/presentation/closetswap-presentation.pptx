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623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67528" y="1417320"/>
            <a:ext cx="822960" cy="822960"/>
          </a:xfrm>
          <a:prstGeom prst="ellipse">
            <a:avLst/>
          </a:prstGeom>
          <a:solidFill>
            <a:srgbClr val="B5654A"/>
          </a:solidFill>
          <a:ln/>
        </p:spPr>
      </p:sp>
      <p:pic>
        <p:nvPicPr>
          <p:cNvPr id="3" name="Image 0" descr="/private/tmp/claude-501/-Users-noasalton-Desktop-highlevelprog-HW-HW5-ap2026-hw5/8de498e0-0e34-46bd-ab05-d3b41bdb79c1/scratchpad/deck/icons/hanger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74513" y="1524305"/>
            <a:ext cx="608990" cy="60899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0" y="2468880"/>
            <a:ext cx="1218895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closetswap</a:t>
            </a:r>
            <a:endParaRPr lang="en-US" sz="6000" dirty="0"/>
          </a:p>
        </p:txBody>
      </p:sp>
      <p:sp>
        <p:nvSpPr>
          <p:cNvPr id="5" name="Text 2"/>
          <p:cNvSpPr/>
          <p:nvPr/>
        </p:nvSpPr>
        <p:spPr>
          <a:xfrm>
            <a:off x="0" y="3611880"/>
            <a:ext cx="12188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D8D4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peer-to-peer clothing rental marketplace, built end-to-end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5394960" y="4343400"/>
            <a:ext cx="1371600" cy="0"/>
          </a:xfrm>
          <a:prstGeom prst="line">
            <a:avLst/>
          </a:prstGeom>
          <a:noFill/>
          <a:ln w="19050">
            <a:solidFill>
              <a:srgbClr val="B5654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0" y="452628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spc="100" kern="0" dirty="0">
                <a:solidFill>
                  <a:srgbClr val="9A96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Technologies  ·  RUNI CS 2026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0" y="603504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96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Noa Salton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56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623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Clothes worn once, closets full anyway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566928" cy="566928"/>
          </a:xfrm>
          <a:prstGeom prst="ellipse">
            <a:avLst/>
          </a:prstGeom>
          <a:solidFill>
            <a:srgbClr val="B5654A"/>
          </a:solidFill>
          <a:ln/>
        </p:spPr>
      </p:sp>
      <p:pic>
        <p:nvPicPr>
          <p:cNvPr id="5" name="Image 0" descr="/private/tmp/claude-501/-Users-noasalton-Desktop-highlevelprog-HW-HW5-ap2026-hw5/8de498e0-0e34-46bd-ab05-d3b41bdb79c1/scratchpad/deck/icons/hanger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781" y="2222541"/>
            <a:ext cx="419527" cy="41952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292608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623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Buyers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640080" y="3355848"/>
            <a:ext cx="3429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evening dress, a suit, an outfit for a shoot - worn once or twice, then it hangs there, most of its value already gone.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4389120" y="2148840"/>
            <a:ext cx="566928" cy="566928"/>
          </a:xfrm>
          <a:prstGeom prst="ellipse">
            <a:avLst/>
          </a:prstGeom>
          <a:solidFill>
            <a:srgbClr val="B5654A"/>
          </a:solidFill>
          <a:ln/>
        </p:spPr>
      </p:sp>
      <p:pic>
        <p:nvPicPr>
          <p:cNvPr id="9" name="Image 1" descr="/private/tmp/claude-501/-Users-noasalton-Desktop-highlevelprog-HW-HW5-ap2026-hw5/8de498e0-0e34-46bd-ab05-d3b41bdb79c1/scratchpad/deck/icons/swap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2821" y="2222541"/>
            <a:ext cx="419527" cy="419527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389120" y="292608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623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Owners</a:t>
            </a:r>
            <a:endParaRPr lang="en-US" sz="1900" dirty="0"/>
          </a:p>
        </p:txBody>
      </p:sp>
      <p:sp>
        <p:nvSpPr>
          <p:cNvPr id="11" name="Text 7"/>
          <p:cNvSpPr/>
          <p:nvPr/>
        </p:nvSpPr>
        <p:spPr>
          <a:xfrm>
            <a:off x="4389120" y="3355848"/>
            <a:ext cx="3429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own good-condition pieces they no longer wear but won't sell or donate - hidden oversupply sitting in home closets.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8138160" y="2148840"/>
            <a:ext cx="566928" cy="566928"/>
          </a:xfrm>
          <a:prstGeom prst="ellipse">
            <a:avLst/>
          </a:prstGeom>
          <a:solidFill>
            <a:srgbClr val="B5654A"/>
          </a:solidFill>
          <a:ln/>
        </p:spPr>
      </p:sp>
      <p:pic>
        <p:nvPicPr>
          <p:cNvPr id="13" name="Image 2" descr="/private/tmp/claude-501/-Users-noasalton-Desktop-highlevelprog-HW-HW5-ap2026-hw5/8de498e0-0e34-46bd-ab05-d3b41bdb79c1/scratchpad/deck/icons/users-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1861" y="2222541"/>
            <a:ext cx="419527" cy="419527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138160" y="292608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623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gap</a:t>
            </a:r>
            <a:endParaRPr lang="en-US" sz="1900" dirty="0"/>
          </a:p>
        </p:txBody>
      </p:sp>
      <p:sp>
        <p:nvSpPr>
          <p:cNvPr id="15" name="Text 10"/>
          <p:cNvSpPr/>
          <p:nvPr/>
        </p:nvSpPr>
        <p:spPr>
          <a:xfrm>
            <a:off x="8138160" y="3355848"/>
            <a:ext cx="3429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convenient, trustworthy channel to rent clothes between private people - with coordination, payment, and trust built in.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640080" y="5212080"/>
            <a:ext cx="10908792" cy="960120"/>
          </a:xfrm>
          <a:prstGeom prst="rect">
            <a:avLst/>
          </a:prstGeom>
          <a:solidFill>
            <a:srgbClr val="F4F2ED"/>
          </a:solidFill>
          <a:ln/>
        </p:spPr>
      </p:sp>
      <p:sp>
        <p:nvSpPr>
          <p:cNvPr id="17" name="Text 12"/>
          <p:cNvSpPr/>
          <p:nvPr/>
        </p:nvSpPr>
        <p:spPr>
          <a:xfrm>
            <a:off x="914400" y="5212080"/>
            <a:ext cx="103601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26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is two-sided: </a:t>
            </a:r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 and environmental waste on single-use clothes, and the absence of a safe rental channel between private individuals.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ClosetSwap</a:t>
            </a:r>
            <a:endParaRPr lang="en-US" sz="1000" dirty="0"/>
          </a:p>
        </p:txBody>
      </p:sp>
      <p:sp>
        <p:nvSpPr>
          <p:cNvPr id="19" name="Text 1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56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623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account, two roles, one admin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3429000" cy="3063240"/>
          </a:xfrm>
          <a:prstGeom prst="rect">
            <a:avLst>
              <a:gd name="adj" fmla="val 2388"/>
            </a:avLst>
          </a:prstGeom>
          <a:solidFill>
            <a:srgbClr val="F4F2ED"/>
          </a:solidFill>
          <a:ln/>
        </p:spPr>
      </p:sp>
      <p:sp>
        <p:nvSpPr>
          <p:cNvPr id="5" name="Shape 3"/>
          <p:cNvSpPr/>
          <p:nvPr/>
        </p:nvSpPr>
        <p:spPr>
          <a:xfrm>
            <a:off x="960120" y="2194560"/>
            <a:ext cx="566928" cy="566928"/>
          </a:xfrm>
          <a:prstGeom prst="ellipse">
            <a:avLst/>
          </a:prstGeom>
          <a:solidFill>
            <a:srgbClr val="B5654A"/>
          </a:solidFill>
          <a:ln/>
        </p:spPr>
      </p:sp>
      <p:pic>
        <p:nvPicPr>
          <p:cNvPr id="6" name="Image 0" descr="/private/tmp/claude-501/-Users-noasalton-Desktop-highlevelprog-HW-HW5-ap2026-hw5/8de498e0-0e34-46bd-ab05-d3b41bdb79c1/scratchpad/deck/icons/hanger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821" y="2268261"/>
            <a:ext cx="419527" cy="41952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292608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623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Owner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960120" y="3355848"/>
            <a:ext cx="2788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 items for rent with photos, sets price and availability, approves or rejects requests.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4389120" y="1874520"/>
            <a:ext cx="3429000" cy="3063240"/>
          </a:xfrm>
          <a:prstGeom prst="rect">
            <a:avLst>
              <a:gd name="adj" fmla="val 2388"/>
            </a:avLst>
          </a:prstGeom>
          <a:solidFill>
            <a:srgbClr val="F4F2ED"/>
          </a:solidFill>
          <a:ln/>
        </p:spPr>
      </p:sp>
      <p:sp>
        <p:nvSpPr>
          <p:cNvPr id="10" name="Shape 7"/>
          <p:cNvSpPr/>
          <p:nvPr/>
        </p:nvSpPr>
        <p:spPr>
          <a:xfrm>
            <a:off x="4709160" y="2194560"/>
            <a:ext cx="566928" cy="566928"/>
          </a:xfrm>
          <a:prstGeom prst="ellipse">
            <a:avLst/>
          </a:prstGeom>
          <a:solidFill>
            <a:srgbClr val="B5654A"/>
          </a:solidFill>
          <a:ln/>
        </p:spPr>
      </p:sp>
      <p:pic>
        <p:nvPicPr>
          <p:cNvPr id="11" name="Image 1" descr="/private/tmp/claude-501/-Users-noasalton-Desktop-highlevelprog-HW-HW5-ap2026-hw5/8de498e0-0e34-46bd-ab05-d3b41bdb79c1/scratchpad/deck/icons/search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2861" y="2268261"/>
            <a:ext cx="419527" cy="41952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09160" y="292608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623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Renter</a:t>
            </a:r>
            <a:endParaRPr lang="en-US" sz="1900" dirty="0"/>
          </a:p>
        </p:txBody>
      </p:sp>
      <p:sp>
        <p:nvSpPr>
          <p:cNvPr id="13" name="Text 9"/>
          <p:cNvSpPr/>
          <p:nvPr/>
        </p:nvSpPr>
        <p:spPr>
          <a:xfrm>
            <a:off x="4709160" y="3355848"/>
            <a:ext cx="2788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Searches by category, size, and dates; sends a rental request; pays after approval.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8138160" y="1874520"/>
            <a:ext cx="3429000" cy="3063240"/>
          </a:xfrm>
          <a:prstGeom prst="rect">
            <a:avLst>
              <a:gd name="adj" fmla="val 2388"/>
            </a:avLst>
          </a:prstGeom>
          <a:solidFill>
            <a:srgbClr val="F4F2ED"/>
          </a:solidFill>
          <a:ln/>
        </p:spPr>
      </p:sp>
      <p:sp>
        <p:nvSpPr>
          <p:cNvPr id="15" name="Shape 11"/>
          <p:cNvSpPr/>
          <p:nvPr/>
        </p:nvSpPr>
        <p:spPr>
          <a:xfrm>
            <a:off x="8458200" y="2194560"/>
            <a:ext cx="566928" cy="566928"/>
          </a:xfrm>
          <a:prstGeom prst="ellipse">
            <a:avLst/>
          </a:prstGeom>
          <a:solidFill>
            <a:srgbClr val="B5654A"/>
          </a:solidFill>
          <a:ln/>
        </p:spPr>
      </p:sp>
      <p:pic>
        <p:nvPicPr>
          <p:cNvPr id="16" name="Image 2" descr="/private/tmp/claude-501/-Users-noasalton-Desktop-highlevelprog-HW-HW5-ap2026-hw5/8de498e0-0e34-46bd-ab05-d3b41bdb79c1/scratchpad/deck/icons/shield-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1901" y="2268261"/>
            <a:ext cx="419527" cy="41952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58200" y="292608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623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</a:t>
            </a:r>
            <a:endParaRPr lang="en-US" sz="1900" dirty="0"/>
          </a:p>
        </p:txBody>
      </p:sp>
      <p:sp>
        <p:nvSpPr>
          <p:cNvPr id="18" name="Text 13"/>
          <p:cNvSpPr/>
          <p:nvPr/>
        </p:nvSpPr>
        <p:spPr>
          <a:xfrm>
            <a:off x="8458200" y="3355848"/>
            <a:ext cx="2788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users, blocks problem accounts, and views activity reports across the platform.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640080" y="5166360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person can be an owner and a renter at once - the roles aren't separate accounts.</a:t>
            </a:r>
            <a:endParaRPr lang="en-US" sz="1350" dirty="0"/>
          </a:p>
        </p:txBody>
      </p:sp>
      <p:sp>
        <p:nvSpPr>
          <p:cNvPr id="20" name="Text 15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ClosetSwap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56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IT'S FOR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623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Price-sensitive, image-conscious, occasion-driven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b="1" dirty="0">
                <a:solidFill>
                  <a:srgbClr val="26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customer: </a:t>
            </a:r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with a wardrobe who want to earn from pieces they don't wear regularly, and save money renting for one-off events instead of buying.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1403604" y="2880360"/>
            <a:ext cx="502920" cy="502920"/>
          </a:xfrm>
          <a:prstGeom prst="ellipse">
            <a:avLst/>
          </a:prstGeom>
          <a:solidFill>
            <a:srgbClr val="B5654A"/>
          </a:solidFill>
          <a:ln/>
        </p:spPr>
      </p:sp>
      <p:pic>
        <p:nvPicPr>
          <p:cNvPr id="6" name="Image 0" descr="/private/tmp/claude-501/-Users-noasalton-Desktop-highlevelprog-HW-HW5-ap2026-hw5/8de498e0-0e34-46bd-ab05-d3b41bdb79c1/scratchpad/deck/icons/users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8984" y="2945740"/>
            <a:ext cx="372161" cy="37216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3566160"/>
            <a:ext cx="20299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2623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Active marketplace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40080" y="4114800"/>
            <a:ext cx="20299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Trustworthy rentals between private users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598164" y="2880360"/>
            <a:ext cx="502920" cy="502920"/>
          </a:xfrm>
          <a:prstGeom prst="ellipse">
            <a:avLst/>
          </a:prstGeom>
          <a:solidFill>
            <a:srgbClr val="B5654A"/>
          </a:solidFill>
          <a:ln/>
        </p:spPr>
      </p:sp>
      <p:pic>
        <p:nvPicPr>
          <p:cNvPr id="10" name="Image 1" descr="/private/tmp/claude-501/-Users-noasalton-Desktop-highlevelprog-HW-HW5-ap2026-hw5/8de498e0-0e34-46bd-ab05-d3b41bdb79c1/scratchpad/deck/icons/swap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3544" y="2945740"/>
            <a:ext cx="372161" cy="37216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834640" y="3566160"/>
            <a:ext cx="20299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2623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Retention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2834640" y="4114800"/>
            <a:ext cx="20299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Fast, simple rent/lend loop worth repeating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5792724" y="2880360"/>
            <a:ext cx="502920" cy="502920"/>
          </a:xfrm>
          <a:prstGeom prst="ellipse">
            <a:avLst/>
          </a:prstGeom>
          <a:solidFill>
            <a:srgbClr val="B5654A"/>
          </a:solidFill>
          <a:ln/>
        </p:spPr>
      </p:sp>
      <p:pic>
        <p:nvPicPr>
          <p:cNvPr id="14" name="Image 2" descr="/private/tmp/claude-501/-Users-noasalton-Desktop-highlevelprog-HW-HW5-ap2026-hw5/8de498e0-0e34-46bd-ab05-d3b41bdb79c1/scratchpad/deck/icons/shield-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8104" y="2945740"/>
            <a:ext cx="372161" cy="372161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029200" y="3566160"/>
            <a:ext cx="20299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2623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Trust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5029200" y="4114800"/>
            <a:ext cx="20299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flow, in-app chat, mutual ratings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7987284" y="2880360"/>
            <a:ext cx="502920" cy="502920"/>
          </a:xfrm>
          <a:prstGeom prst="ellipse">
            <a:avLst/>
          </a:prstGeom>
          <a:solidFill>
            <a:srgbClr val="B5654A"/>
          </a:solidFill>
          <a:ln/>
        </p:spPr>
      </p:sp>
      <p:pic>
        <p:nvPicPr>
          <p:cNvPr id="18" name="Image 3" descr="/private/tmp/claude-501/-Users-noasalton-Desktop-highlevelprog-HW-HW5-ap2026-hw5/8de498e0-0e34-46bd-ab05-d3b41bdb79c1/scratchpad/deck/icons/chart-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52664" y="2945740"/>
            <a:ext cx="372161" cy="372161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223760" y="3566160"/>
            <a:ext cx="20299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2623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path</a:t>
            </a:r>
            <a:endParaRPr lang="en-US" sz="1400" dirty="0"/>
          </a:p>
        </p:txBody>
      </p:sp>
      <p:sp>
        <p:nvSpPr>
          <p:cNvPr id="20" name="Text 14"/>
          <p:cNvSpPr/>
          <p:nvPr/>
        </p:nvSpPr>
        <p:spPr>
          <a:xfrm>
            <a:off x="7223760" y="4114800"/>
            <a:ext cx="20299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 per transaction, future model</a:t>
            </a:r>
            <a:endParaRPr lang="en-US" sz="1150" dirty="0"/>
          </a:p>
        </p:txBody>
      </p:sp>
      <p:sp>
        <p:nvSpPr>
          <p:cNvPr id="21" name="Shape 15"/>
          <p:cNvSpPr/>
          <p:nvPr/>
        </p:nvSpPr>
        <p:spPr>
          <a:xfrm>
            <a:off x="10181844" y="2880360"/>
            <a:ext cx="502920" cy="502920"/>
          </a:xfrm>
          <a:prstGeom prst="ellipse">
            <a:avLst/>
          </a:prstGeom>
          <a:solidFill>
            <a:srgbClr val="B5654A"/>
          </a:solidFill>
          <a:ln/>
        </p:spPr>
      </p:sp>
      <p:pic>
        <p:nvPicPr>
          <p:cNvPr id="22" name="Image 4" descr="/private/tmp/claude-501/-Users-noasalton-Desktop-highlevelprog-HW-HW5-ap2026-hw5/8de498e0-0e34-46bd-ab05-d3b41bdb79c1/scratchpad/deck/icons/hanger-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47224" y="2945740"/>
            <a:ext cx="372161" cy="372161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9418320" y="3566160"/>
            <a:ext cx="20299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2623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Less waste</a:t>
            </a:r>
            <a:endParaRPr lang="en-US" sz="1400" dirty="0"/>
          </a:p>
        </p:txBody>
      </p:sp>
      <p:sp>
        <p:nvSpPr>
          <p:cNvPr id="24" name="Text 17"/>
          <p:cNvSpPr/>
          <p:nvPr/>
        </p:nvSpPr>
        <p:spPr>
          <a:xfrm>
            <a:off x="9418320" y="4114800"/>
            <a:ext cx="20299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 of existing items over new purchases</a:t>
            </a:r>
            <a:endParaRPr lang="en-US" sz="1150" dirty="0"/>
          </a:p>
        </p:txBody>
      </p:sp>
      <p:sp>
        <p:nvSpPr>
          <p:cNvPr id="25" name="Text 18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ClosetSwap</a:t>
            </a:r>
            <a:endParaRPr lang="en-US" sz="1000" dirty="0"/>
          </a:p>
        </p:txBody>
      </p:sp>
      <p:sp>
        <p:nvSpPr>
          <p:cNvPr id="26" name="Text 1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623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15584" y="1965960"/>
            <a:ext cx="822960" cy="822960"/>
          </a:xfrm>
          <a:prstGeom prst="ellipse">
            <a:avLst/>
          </a:prstGeom>
          <a:solidFill>
            <a:srgbClr val="B5654A"/>
          </a:solidFill>
          <a:ln/>
        </p:spPr>
      </p:sp>
      <p:pic>
        <p:nvPicPr>
          <p:cNvPr id="3" name="Image 0" descr="/private/tmp/claude-501/-Users-noasalton-Desktop-highlevelprog-HW-HW5-ap2026-hw5/8de498e0-0e34-46bd-ab05-d3b41bdb79c1/scratchpad/deck/icons/bolt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22569" y="2072945"/>
            <a:ext cx="608990" cy="60899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0" y="2880360"/>
            <a:ext cx="121889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demo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0" y="3794760"/>
            <a:ext cx="12188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D8D4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accounts, one browser each - owner and renter, start to finish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0" y="539496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spc="100" kern="0" dirty="0">
                <a:solidFill>
                  <a:srgbClr val="B56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closetswap-nine.vercel.app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56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623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Server Actions instead of a separate API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1965960"/>
            <a:ext cx="3291840" cy="1554480"/>
          </a:xfrm>
          <a:prstGeom prst="rect">
            <a:avLst>
              <a:gd name="adj" fmla="val 4706"/>
            </a:avLst>
          </a:prstGeom>
          <a:solidFill>
            <a:srgbClr val="F4F2ED"/>
          </a:solidFill>
          <a:ln/>
        </p:spPr>
      </p:sp>
      <p:sp>
        <p:nvSpPr>
          <p:cNvPr id="5" name="Shape 3"/>
          <p:cNvSpPr/>
          <p:nvPr/>
        </p:nvSpPr>
        <p:spPr>
          <a:xfrm>
            <a:off x="1097280" y="2240280"/>
            <a:ext cx="502920" cy="502920"/>
          </a:xfrm>
          <a:prstGeom prst="ellipse">
            <a:avLst/>
          </a:prstGeom>
          <a:solidFill>
            <a:srgbClr val="B5654A"/>
          </a:solidFill>
          <a:ln/>
        </p:spPr>
      </p:sp>
      <p:pic>
        <p:nvPicPr>
          <p:cNvPr id="6" name="Image 0" descr="/private/tmp/claude-501/-Users-noasalton-Desktop-highlevelprog-HW-HW5-ap2026-hw5/8de498e0-0e34-46bd-ab05-d3b41bdb79c1/scratchpad/deck/icons/code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2660" y="2305660"/>
            <a:ext cx="372161" cy="37216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2185416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23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Next.js 16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783080" y="2587752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Router · Server Components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Server Actions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114800" y="246888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B56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4617720" y="1965960"/>
            <a:ext cx="3291840" cy="1554480"/>
          </a:xfrm>
          <a:prstGeom prst="rect">
            <a:avLst>
              <a:gd name="adj" fmla="val 4706"/>
            </a:avLst>
          </a:prstGeom>
          <a:solidFill>
            <a:srgbClr val="F4F2ED"/>
          </a:solidFill>
          <a:ln/>
        </p:spPr>
      </p:sp>
      <p:sp>
        <p:nvSpPr>
          <p:cNvPr id="11" name="Shape 8"/>
          <p:cNvSpPr/>
          <p:nvPr/>
        </p:nvSpPr>
        <p:spPr>
          <a:xfrm>
            <a:off x="4892040" y="2240280"/>
            <a:ext cx="502920" cy="502920"/>
          </a:xfrm>
          <a:prstGeom prst="ellipse">
            <a:avLst/>
          </a:prstGeom>
          <a:solidFill>
            <a:srgbClr val="B5654A"/>
          </a:solidFill>
          <a:ln/>
        </p:spPr>
      </p:sp>
      <p:pic>
        <p:nvPicPr>
          <p:cNvPr id="12" name="Image 1" descr="/private/tmp/claude-501/-Users-noasalton-Desktop-highlevelprog-HW-HW5-ap2026-hw5/8de498e0-0e34-46bd-ab05-d3b41bdb79c1/scratchpad/deck/icons/database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7420" y="2305660"/>
            <a:ext cx="372161" cy="37216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577840" y="2185416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23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Supabase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5577840" y="2587752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 · Auth · Storage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Realtime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7909560" y="246888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B56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hape 12"/>
          <p:cNvSpPr/>
          <p:nvPr/>
        </p:nvSpPr>
        <p:spPr>
          <a:xfrm>
            <a:off x="8412480" y="1965960"/>
            <a:ext cx="3291840" cy="1554480"/>
          </a:xfrm>
          <a:prstGeom prst="rect">
            <a:avLst>
              <a:gd name="adj" fmla="val 4706"/>
            </a:avLst>
          </a:prstGeom>
          <a:solidFill>
            <a:srgbClr val="F4F2ED"/>
          </a:solidFill>
          <a:ln/>
        </p:spPr>
      </p:sp>
      <p:sp>
        <p:nvSpPr>
          <p:cNvPr id="17" name="Shape 13"/>
          <p:cNvSpPr/>
          <p:nvPr/>
        </p:nvSpPr>
        <p:spPr>
          <a:xfrm>
            <a:off x="8686800" y="2240280"/>
            <a:ext cx="502920" cy="502920"/>
          </a:xfrm>
          <a:prstGeom prst="ellipse">
            <a:avLst/>
          </a:prstGeom>
          <a:solidFill>
            <a:srgbClr val="B5654A"/>
          </a:solidFill>
          <a:ln/>
        </p:spPr>
      </p:sp>
      <p:pic>
        <p:nvPicPr>
          <p:cNvPr id="18" name="Image 2" descr="/private/tmp/claude-501/-Users-noasalton-Desktop-highlevelprog-HW-HW5-ap2026-hw5/8de498e0-0e34-46bd-ab05-d3b41bdb79c1/scratchpad/deck/icons/bolt-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52180" y="2305660"/>
            <a:ext cx="372161" cy="372161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9372600" y="2185416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23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Vercel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9372600" y="2587752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· serverless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 per request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822960" y="3886200"/>
            <a:ext cx="10332720" cy="2148840"/>
          </a:xfrm>
          <a:prstGeom prst="rect">
            <a:avLst>
              <a:gd name="adj" fmla="val 3404"/>
            </a:avLst>
          </a:prstGeom>
          <a:solidFill>
            <a:srgbClr val="262321"/>
          </a:solidFill>
          <a:ln/>
        </p:spPr>
      </p:sp>
      <p:sp>
        <p:nvSpPr>
          <p:cNvPr id="22" name="Text 17"/>
          <p:cNvSpPr/>
          <p:nvPr/>
        </p:nvSpPr>
        <p:spPr>
          <a:xfrm>
            <a:off x="1188720" y="411480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Server Actions, not a REST API</a:t>
            </a:r>
            <a:endParaRPr lang="en-US" sz="1500" dirty="0"/>
          </a:p>
        </p:txBody>
      </p:sp>
      <p:sp>
        <p:nvSpPr>
          <p:cNvPr id="23" name="Text 18"/>
          <p:cNvSpPr/>
          <p:nvPr/>
        </p:nvSpPr>
        <p:spPr>
          <a:xfrm>
            <a:off x="1188720" y="4572000"/>
            <a:ext cx="9601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–"/>
            </a:pPr>
            <a:r>
              <a:rPr lang="en-US" sz="1250" dirty="0">
                <a:solidFill>
                  <a:srgbClr val="D8D4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separate client needs to consume this data - forms call typed server functions directly.</a:t>
            </a:r>
            <a:endParaRPr lang="en-US" sz="125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–"/>
            </a:pPr>
            <a:r>
              <a:rPr lang="en-US" sz="1250" dirty="0">
                <a:solidFill>
                  <a:srgbClr val="D8D4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already provides CSRF protection, encrypted action IDs, and dead-code elimination.</a:t>
            </a:r>
            <a:endParaRPr lang="en-US" sz="125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–"/>
            </a:pPr>
            <a:r>
              <a:rPr lang="en-US" sz="1250" dirty="0">
                <a:solidFill>
                  <a:srgbClr val="D8D4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RLS decides row-level access; the booking state machine (in code) decides which transition is legal - split because a pure function is far easier to unit test than a SQL policy.</a:t>
            </a:r>
            <a:endParaRPr lang="en-US" sz="1250" dirty="0"/>
          </a:p>
        </p:txBody>
      </p:sp>
      <p:sp>
        <p:nvSpPr>
          <p:cNvPr id="24" name="Text 19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ClosetSwap</a:t>
            </a:r>
            <a:endParaRPr lang="en-US" sz="1000" dirty="0"/>
          </a:p>
        </p:txBody>
      </p:sp>
      <p:sp>
        <p:nvSpPr>
          <p:cNvPr id="25" name="Text 2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56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623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tables, one deliberate FK decision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3429000" cy="1051560"/>
          </a:xfrm>
          <a:prstGeom prst="rect">
            <a:avLst>
              <a:gd name="adj" fmla="val 5217"/>
            </a:avLst>
          </a:prstGeom>
          <a:solidFill>
            <a:srgbClr val="F4F2ED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984248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565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profiles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68680" y="233172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row per user; role, block status, rating aggregate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233672" y="1874520"/>
            <a:ext cx="3429000" cy="1051560"/>
          </a:xfrm>
          <a:prstGeom prst="rect">
            <a:avLst>
              <a:gd name="adj" fmla="val 5217"/>
            </a:avLst>
          </a:prstGeom>
          <a:solidFill>
            <a:srgbClr val="F4F2ED"/>
          </a:solidFill>
          <a:ln/>
        </p:spPr>
      </p:sp>
      <p:sp>
        <p:nvSpPr>
          <p:cNvPr id="8" name="Text 6"/>
          <p:cNvSpPr/>
          <p:nvPr/>
        </p:nvSpPr>
        <p:spPr>
          <a:xfrm>
            <a:off x="4462272" y="1984248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565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items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462272" y="233172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listing: title, category, size, price/day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827264" y="1874520"/>
            <a:ext cx="3429000" cy="1051560"/>
          </a:xfrm>
          <a:prstGeom prst="rect">
            <a:avLst>
              <a:gd name="adj" fmla="val 5217"/>
            </a:avLst>
          </a:prstGeom>
          <a:solidFill>
            <a:srgbClr val="F4F2ED"/>
          </a:solidFill>
          <a:ln/>
        </p:spPr>
      </p:sp>
      <p:sp>
        <p:nvSpPr>
          <p:cNvPr id="11" name="Text 9"/>
          <p:cNvSpPr/>
          <p:nvPr/>
        </p:nvSpPr>
        <p:spPr>
          <a:xfrm>
            <a:off x="8055864" y="1984248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565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item_images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055864" y="233172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Photos in Supabase Storage, ordered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" y="3090672"/>
            <a:ext cx="3429000" cy="1051560"/>
          </a:xfrm>
          <a:prstGeom prst="rect">
            <a:avLst>
              <a:gd name="adj" fmla="val 5217"/>
            </a:avLst>
          </a:prstGeom>
          <a:solidFill>
            <a:srgbClr val="F4F2ED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320040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565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bookings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68680" y="354787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rental transaction and its status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233672" y="3090672"/>
            <a:ext cx="3429000" cy="1051560"/>
          </a:xfrm>
          <a:prstGeom prst="rect">
            <a:avLst>
              <a:gd name="adj" fmla="val 5217"/>
            </a:avLst>
          </a:prstGeom>
          <a:solidFill>
            <a:srgbClr val="F4F2ED"/>
          </a:solidFill>
          <a:ln/>
        </p:spPr>
      </p:sp>
      <p:sp>
        <p:nvSpPr>
          <p:cNvPr id="17" name="Text 15"/>
          <p:cNvSpPr/>
          <p:nvPr/>
        </p:nvSpPr>
        <p:spPr>
          <a:xfrm>
            <a:off x="4462272" y="320040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565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messages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462272" y="354787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scoped to one booking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827264" y="3090672"/>
            <a:ext cx="3429000" cy="1051560"/>
          </a:xfrm>
          <a:prstGeom prst="rect">
            <a:avLst>
              <a:gd name="adj" fmla="val 5217"/>
            </a:avLst>
          </a:prstGeom>
          <a:solidFill>
            <a:srgbClr val="F4F2ED"/>
          </a:solidFill>
          <a:ln/>
        </p:spPr>
      </p:sp>
      <p:sp>
        <p:nvSpPr>
          <p:cNvPr id="20" name="Text 18"/>
          <p:cNvSpPr/>
          <p:nvPr/>
        </p:nvSpPr>
        <p:spPr>
          <a:xfrm>
            <a:off x="8055864" y="320040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565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ratings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055864" y="354787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score per booking per rater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40080" y="4343400"/>
            <a:ext cx="10908792" cy="1828800"/>
          </a:xfrm>
          <a:prstGeom prst="rect">
            <a:avLst>
              <a:gd name="adj" fmla="val 4000"/>
            </a:avLst>
          </a:prstGeom>
          <a:solidFill>
            <a:srgbClr val="262321"/>
          </a:solidFill>
          <a:ln/>
        </p:spPr>
      </p:sp>
      <p:sp>
        <p:nvSpPr>
          <p:cNvPr id="23" name="Text 21"/>
          <p:cNvSpPr/>
          <p:nvPr/>
        </p:nvSpPr>
        <p:spPr>
          <a:xfrm>
            <a:off x="914400" y="4553712"/>
            <a:ext cx="10360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565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bookings.item_id → items.id  is  ON DELETE RESTRICT, not CASCADE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14400" y="4937760"/>
            <a:ext cx="103601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8D4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earlier version cascaded - deleting a listing would silently destroy every booking, message, and rating tied to it, including another user's transaction history. Now: an item with any booking history can only be delisted, not deleted.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ClosetSwap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56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623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booking state machine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1783080" cy="868680"/>
          </a:xfrm>
          <a:prstGeom prst="rect">
            <a:avLst>
              <a:gd name="adj" fmla="val 36842"/>
            </a:avLst>
          </a:prstGeom>
          <a:solidFill>
            <a:srgbClr val="F4F2ED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286000"/>
            <a:ext cx="1783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623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Pending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502920" y="324612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Renter requests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423160" y="2395728"/>
            <a:ext cx="256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56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679192" y="2286000"/>
            <a:ext cx="1783080" cy="868680"/>
          </a:xfrm>
          <a:prstGeom prst="rect">
            <a:avLst>
              <a:gd name="adj" fmla="val 36842"/>
            </a:avLst>
          </a:prstGeom>
          <a:solidFill>
            <a:srgbClr val="F4F2ED"/>
          </a:solidFill>
          <a:ln/>
        </p:spPr>
      </p:sp>
      <p:sp>
        <p:nvSpPr>
          <p:cNvPr id="9" name="Text 7"/>
          <p:cNvSpPr/>
          <p:nvPr/>
        </p:nvSpPr>
        <p:spPr>
          <a:xfrm>
            <a:off x="2679192" y="2286000"/>
            <a:ext cx="1783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623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Approved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2542032" y="324612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approves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462272" y="2395728"/>
            <a:ext cx="256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56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718304" y="2286000"/>
            <a:ext cx="1783080" cy="868680"/>
          </a:xfrm>
          <a:prstGeom prst="rect">
            <a:avLst>
              <a:gd name="adj" fmla="val 36842"/>
            </a:avLst>
          </a:prstGeom>
          <a:solidFill>
            <a:srgbClr val="F4F2ED"/>
          </a:solidFill>
          <a:ln/>
        </p:spPr>
      </p:sp>
      <p:sp>
        <p:nvSpPr>
          <p:cNvPr id="13" name="Text 11"/>
          <p:cNvSpPr/>
          <p:nvPr/>
        </p:nvSpPr>
        <p:spPr>
          <a:xfrm>
            <a:off x="4718304" y="2286000"/>
            <a:ext cx="1783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623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Paid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4581144" y="324612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Renter pays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501384" y="2395728"/>
            <a:ext cx="256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56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757416" y="2286000"/>
            <a:ext cx="1783080" cy="868680"/>
          </a:xfrm>
          <a:prstGeom prst="rect">
            <a:avLst>
              <a:gd name="adj" fmla="val 36842"/>
            </a:avLst>
          </a:prstGeom>
          <a:solidFill>
            <a:srgbClr val="F4F2ED"/>
          </a:solidFill>
          <a:ln/>
        </p:spPr>
      </p:sp>
      <p:sp>
        <p:nvSpPr>
          <p:cNvPr id="17" name="Text 15"/>
          <p:cNvSpPr/>
          <p:nvPr/>
        </p:nvSpPr>
        <p:spPr>
          <a:xfrm>
            <a:off x="6757416" y="2286000"/>
            <a:ext cx="1783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623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progress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6620256" y="324612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picked up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540496" y="2395728"/>
            <a:ext cx="256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56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8796528" y="2286000"/>
            <a:ext cx="1783080" cy="868680"/>
          </a:xfrm>
          <a:prstGeom prst="rect">
            <a:avLst>
              <a:gd name="adj" fmla="val 36842"/>
            </a:avLst>
          </a:prstGeom>
          <a:solidFill>
            <a:srgbClr val="B5654A"/>
          </a:solidFill>
          <a:ln/>
        </p:spPr>
      </p:sp>
      <p:sp>
        <p:nvSpPr>
          <p:cNvPr id="21" name="Text 19"/>
          <p:cNvSpPr/>
          <p:nvPr/>
        </p:nvSpPr>
        <p:spPr>
          <a:xfrm>
            <a:off x="8796528" y="2286000"/>
            <a:ext cx="1783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Returned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8659368" y="324612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returned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40080" y="4114800"/>
            <a:ext cx="2468880" cy="548640"/>
          </a:xfrm>
          <a:prstGeom prst="rect">
            <a:avLst>
              <a:gd name="adj" fmla="val 50000"/>
            </a:avLst>
          </a:prstGeom>
          <a:solidFill>
            <a:srgbClr val="F4E3DB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41148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8A3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Rejected  (terminal)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3246120" y="411480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reachable from Pending, by the owner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40080" y="5029200"/>
            <a:ext cx="10908792" cy="1417320"/>
          </a:xfrm>
          <a:prstGeom prst="rect">
            <a:avLst>
              <a:gd name="adj" fmla="val 5161"/>
            </a:avLst>
          </a:prstGeom>
          <a:solidFill>
            <a:srgbClr val="F4F2ED"/>
          </a:solidFill>
          <a:ln/>
        </p:spPr>
      </p:sp>
      <p:sp>
        <p:nvSpPr>
          <p:cNvPr id="27" name="Text 25"/>
          <p:cNvSpPr/>
          <p:nvPr/>
        </p:nvSpPr>
        <p:spPr>
          <a:xfrm>
            <a:off x="914400" y="5193792"/>
            <a:ext cx="103601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B565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canTransition(status, action, role)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single source of truth for which role can do what, from where. Every mutating action calls it before touching the database. Exhaustively unit-tested: valid transitions, wrong role, wrong starting status, skipped steps.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ClosetSwap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56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623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layers, kept deliberately separate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02920" cy="502920"/>
          </a:xfrm>
          <a:prstGeom prst="ellipse">
            <a:avLst/>
          </a:prstGeom>
          <a:solidFill>
            <a:srgbClr val="B5654A"/>
          </a:solidFill>
          <a:ln/>
        </p:spPr>
      </p:sp>
      <p:pic>
        <p:nvPicPr>
          <p:cNvPr id="5" name="Image 0" descr="/private/tmp/claude-501/-Users-noasalton-Desktop-highlevelprog-HW-HW5-ap2026-hw5/8de498e0-0e34-46bd-ab05-d3b41bdb79c1/scratchpad/deck/icons/shield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5460" y="1939900"/>
            <a:ext cx="372161" cy="37216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7320" y="184708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623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Row Level Security (Postgres)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1417320" y="224028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Decides row-level visibility and write access - only participants see a booking, only an owner edits their item. Holds even if application code has a bug.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40080" y="2926080"/>
            <a:ext cx="502920" cy="502920"/>
          </a:xfrm>
          <a:prstGeom prst="ellipse">
            <a:avLst/>
          </a:prstGeom>
          <a:solidFill>
            <a:srgbClr val="B5654A"/>
          </a:solidFill>
          <a:ln/>
        </p:spPr>
      </p:sp>
      <p:pic>
        <p:nvPicPr>
          <p:cNvPr id="9" name="Image 1" descr="/private/tmp/claude-501/-Users-noasalton-Desktop-highlevelprog-HW-HW5-ap2026-hw5/8de498e0-0e34-46bd-ab05-d3b41bdb79c1/scratchpad/deck/icons/sitemap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460" y="2991460"/>
            <a:ext cx="372161" cy="372161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17320" y="289864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623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Business-rule authorization (code)</a:t>
            </a:r>
            <a:endParaRPr lang="en-US" sz="1550" dirty="0"/>
          </a:p>
        </p:txBody>
      </p:sp>
      <p:sp>
        <p:nvSpPr>
          <p:cNvPr id="11" name="Text 7"/>
          <p:cNvSpPr/>
          <p:nvPr/>
        </p:nvSpPr>
        <p:spPr>
          <a:xfrm>
            <a:off x="1417320" y="329184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transition a role may perform on a booking. Lives in the state machine, not RLS, because it's far easier to unit test exhaustively.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640080" y="3977640"/>
            <a:ext cx="502920" cy="502920"/>
          </a:xfrm>
          <a:prstGeom prst="ellipse">
            <a:avLst/>
          </a:prstGeom>
          <a:solidFill>
            <a:srgbClr val="B5654A"/>
          </a:solidFill>
          <a:ln/>
        </p:spPr>
      </p:sp>
      <p:pic>
        <p:nvPicPr>
          <p:cNvPr id="13" name="Image 2" descr="/private/tmp/claude-501/-Users-noasalton-Desktop-highlevelprog-HW-HW5-ap2026-hw5/8de498e0-0e34-46bd-ab05-d3b41bdb79c1/scratchpad/deck/icons/lock-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460" y="4043020"/>
            <a:ext cx="372161" cy="37216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417320" y="395020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623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Secrets</a:t>
            </a:r>
            <a:endParaRPr lang="en-US" sz="1550" dirty="0"/>
          </a:p>
        </p:txBody>
      </p:sp>
      <p:sp>
        <p:nvSpPr>
          <p:cNvPr id="15" name="Text 10"/>
          <p:cNvSpPr/>
          <p:nvPr/>
        </p:nvSpPr>
        <p:spPr>
          <a:xfrm>
            <a:off x="1417320" y="434340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Service-role key is server-only (import "server-only"), never reaches the client bundle or a Server Action's return value.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640080" y="5120640"/>
            <a:ext cx="10908792" cy="1051560"/>
          </a:xfrm>
          <a:prstGeom prst="rect">
            <a:avLst>
              <a:gd name="adj" fmla="val 6957"/>
            </a:avLst>
          </a:prstGeom>
          <a:solidFill>
            <a:srgbClr val="262321"/>
          </a:solidFill>
          <a:ln/>
        </p:spPr>
      </p:sp>
      <p:sp>
        <p:nvSpPr>
          <p:cNvPr id="17" name="Text 12"/>
          <p:cNvSpPr/>
          <p:nvPr/>
        </p:nvSpPr>
        <p:spPr>
          <a:xfrm>
            <a:off x="914400" y="5285232"/>
            <a:ext cx="103601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B56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auth.getUser() everywhere, never getSession(). 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8D4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getUser() revalidates the JWT against the Supabase Auth server; getSession() just reads the (spoofable) cookie without checking it's still valid.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ClosetSwap</a:t>
            </a:r>
            <a:endParaRPr lang="en-US" sz="1000" dirty="0"/>
          </a:p>
        </p:txBody>
      </p:sp>
      <p:sp>
        <p:nvSpPr>
          <p:cNvPr id="19" name="Text 1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56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623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tests found two real bugs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429000" cy="1234440"/>
          </a:xfrm>
          <a:prstGeom prst="rect">
            <a:avLst>
              <a:gd name="adj" fmla="val 5926"/>
            </a:avLst>
          </a:prstGeom>
          <a:solidFill>
            <a:srgbClr val="F4F2ED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783080"/>
            <a:ext cx="1188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B565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2011680" y="1783080"/>
            <a:ext cx="1874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+ component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389120" y="1783080"/>
            <a:ext cx="3429000" cy="1234440"/>
          </a:xfrm>
          <a:prstGeom prst="rect">
            <a:avLst>
              <a:gd name="adj" fmla="val 5926"/>
            </a:avLst>
          </a:prstGeom>
          <a:solidFill>
            <a:srgbClr val="F4F2ED"/>
          </a:solidFill>
          <a:ln/>
        </p:spPr>
      </p:sp>
      <p:sp>
        <p:nvSpPr>
          <p:cNvPr id="8" name="Text 6"/>
          <p:cNvSpPr/>
          <p:nvPr/>
        </p:nvSpPr>
        <p:spPr>
          <a:xfrm>
            <a:off x="4663440" y="1783080"/>
            <a:ext cx="1188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B565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5760720" y="1783080"/>
            <a:ext cx="1874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flows (Playwright)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138160" y="1783080"/>
            <a:ext cx="3429000" cy="1234440"/>
          </a:xfrm>
          <a:prstGeom prst="rect">
            <a:avLst>
              <a:gd name="adj" fmla="val 5926"/>
            </a:avLst>
          </a:prstGeom>
          <a:solidFill>
            <a:srgbClr val="F4F2ED"/>
          </a:solidFill>
          <a:ln/>
        </p:spPr>
      </p:sp>
      <p:sp>
        <p:nvSpPr>
          <p:cNvPr id="11" name="Text 9"/>
          <p:cNvSpPr/>
          <p:nvPr/>
        </p:nvSpPr>
        <p:spPr>
          <a:xfrm>
            <a:off x="8412480" y="1783080"/>
            <a:ext cx="1188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B565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9509760" y="1783080"/>
            <a:ext cx="1874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bugs caught,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just “coverage”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3337560"/>
            <a:ext cx="457200" cy="457200"/>
          </a:xfrm>
          <a:prstGeom prst="ellipse">
            <a:avLst/>
          </a:prstGeom>
          <a:solidFill>
            <a:srgbClr val="B5654A"/>
          </a:solidFill>
          <a:ln/>
        </p:spPr>
      </p:sp>
      <p:pic>
        <p:nvPicPr>
          <p:cNvPr id="14" name="Image 0" descr="/private/tmp/claude-501/-Users-noasalton-Desktop-highlevelprog-HW-HW5-ap2026-hw5/8de498e0-0e34-46bd-ab05-d3b41bdb79c1/scratchpad/deck/icons/bug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9516" y="3396996"/>
            <a:ext cx="338328" cy="338328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371600" y="3319272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623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Double-booking slipped through for a third party</a:t>
            </a:r>
            <a:endParaRPr lang="en-US" sz="1450" dirty="0"/>
          </a:p>
        </p:txBody>
      </p:sp>
      <p:sp>
        <p:nvSpPr>
          <p:cNvPr id="16" name="Text 13"/>
          <p:cNvSpPr/>
          <p:nvPr/>
        </p:nvSpPr>
        <p:spPr>
          <a:xfrm>
            <a:off x="1371600" y="3685032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overlap check ran on the RLS-scoped client. A renter who wasn't yet part of the conflicting booking silently saw zero rows in that query - so it never actually blocked anything. Caught by an e2e test exercising a third renter, not by manual clicking.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640080" y="4709160"/>
            <a:ext cx="457200" cy="457200"/>
          </a:xfrm>
          <a:prstGeom prst="ellipse">
            <a:avLst/>
          </a:prstGeom>
          <a:solidFill>
            <a:srgbClr val="B5654A"/>
          </a:solidFill>
          <a:ln/>
        </p:spPr>
      </p:sp>
      <p:pic>
        <p:nvPicPr>
          <p:cNvPr id="18" name="Image 1" descr="/private/tmp/claude-501/-Users-noasalton-Desktop-highlevelprog-HW-HW5-ap2026-hw5/8de498e0-0e34-46bd-ab05-d3b41bdb79c1/scratchpad/deck/icons/bug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16" y="4768596"/>
            <a:ext cx="338328" cy="338328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1371600" y="4690872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623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Rating averages never updated</a:t>
            </a:r>
            <a:endParaRPr lang="en-US" sz="1450" dirty="0"/>
          </a:p>
        </p:txBody>
      </p:sp>
      <p:sp>
        <p:nvSpPr>
          <p:cNvPr id="20" name="Text 16"/>
          <p:cNvSpPr/>
          <p:nvPr/>
        </p:nvSpPr>
        <p:spPr>
          <a:xfrm>
            <a:off x="1371600" y="5056632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trigger meant to stop clients self-granting admin was also blocking the legitimate trigger that keeps rating_avg in sync - both write to profiles from a normal user session. Fixed with pg_trigger_depth().</a:t>
            </a:r>
            <a:endParaRPr lang="en-US" sz="1150" dirty="0"/>
          </a:p>
        </p:txBody>
      </p:sp>
      <p:sp>
        <p:nvSpPr>
          <p:cNvPr id="21" name="Text 17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ClosetSwap</a:t>
            </a:r>
            <a:endParaRPr lang="en-US" sz="1000" dirty="0"/>
          </a:p>
        </p:txBody>
      </p:sp>
      <p:sp>
        <p:nvSpPr>
          <p:cNvPr id="22" name="Text 1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56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623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Fine at hundreds of users - here's what's first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257800" cy="3063240"/>
          </a:xfrm>
          <a:prstGeom prst="rect">
            <a:avLst>
              <a:gd name="adj" fmla="val 2388"/>
            </a:avLst>
          </a:prstGeom>
          <a:solidFill>
            <a:srgbClr val="F4F2ED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10312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623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Holds up today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914400" y="2560320"/>
            <a:ext cx="47091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–"/>
            </a:pPr>
            <a:r>
              <a:rPr lang="en-US" sz="12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Postgres instance handles low hundreds of concurrent users without changes.</a:t>
            </a:r>
            <a:endParaRPr lang="en-US" sz="120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–"/>
            </a:pPr>
            <a:r>
              <a:rPr lang="en-US" sz="12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page is paginated (12/page); indexed on category, is_active.</a:t>
            </a:r>
            <a:endParaRPr lang="en-US" sz="120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–"/>
            </a:pPr>
            <a:r>
              <a:rPr lang="en-US" sz="12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Components by default - client JS only where interactivity is needed.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263640" y="1874520"/>
            <a:ext cx="5257800" cy="3063240"/>
          </a:xfrm>
          <a:prstGeom prst="rect">
            <a:avLst>
              <a:gd name="adj" fmla="val 2388"/>
            </a:avLst>
          </a:prstGeom>
          <a:solidFill>
            <a:srgbClr val="262321"/>
          </a:solidFill>
          <a:ln/>
        </p:spPr>
      </p:sp>
      <p:sp>
        <p:nvSpPr>
          <p:cNvPr id="8" name="Text 6"/>
          <p:cNvSpPr/>
          <p:nvPr/>
        </p:nvSpPr>
        <p:spPr>
          <a:xfrm>
            <a:off x="6537960" y="210312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B565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Changes first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6537960" y="2560320"/>
            <a:ext cx="47091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–"/>
            </a:pPr>
            <a:r>
              <a:rPr lang="en-US" sz="1200" dirty="0">
                <a:solidFill>
                  <a:srgbClr val="D8D4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stats compute in JS today - first to move to a SQL group by.</a:t>
            </a:r>
            <a:endParaRPr lang="en-US" sz="120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–"/>
            </a:pPr>
            <a:r>
              <a:rPr lang="en-US" sz="1200" dirty="0">
                <a:solidFill>
                  <a:srgbClr val="D8D4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and admin user list aren't paginated yet.</a:t>
            </a:r>
            <a:endParaRPr lang="en-US" sz="120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–"/>
            </a:pPr>
            <a:r>
              <a:rPr lang="en-US" sz="1200" dirty="0">
                <a:solidFill>
                  <a:srgbClr val="D8D4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rate limiting on Server Actions - also a scale concern, not just security.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ClosetSwap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56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MORE TIME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623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I'd improve next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5257800" cy="1417320"/>
          </a:xfrm>
          <a:prstGeom prst="rect">
            <a:avLst>
              <a:gd name="adj" fmla="val 5161"/>
            </a:avLst>
          </a:prstGeom>
          <a:solidFill>
            <a:srgbClr val="F4F2ED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194560"/>
            <a:ext cx="502920" cy="502920"/>
          </a:xfrm>
          <a:prstGeom prst="ellipse">
            <a:avLst/>
          </a:prstGeom>
          <a:solidFill>
            <a:srgbClr val="B5654A"/>
          </a:solidFill>
          <a:ln/>
        </p:spPr>
      </p:sp>
      <p:pic>
        <p:nvPicPr>
          <p:cNvPr id="6" name="Image 0" descr="/private/tmp/claude-501/-Users-noasalton-Desktop-highlevelprog-HW-HW5-ap2026-hw5/8de498e0-0e34-46bd-ab05-d3b41bdb79c1/scratchpad/deck/icons/shield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9780" y="2259940"/>
            <a:ext cx="372161" cy="37216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212140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623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Rate limiting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1600200" y="2514600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createBooking, sendMessage, submitRating - the highest-value next security step.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217920" y="1920240"/>
            <a:ext cx="5257800" cy="1417320"/>
          </a:xfrm>
          <a:prstGeom prst="rect">
            <a:avLst>
              <a:gd name="adj" fmla="val 5161"/>
            </a:avLst>
          </a:prstGeom>
          <a:solidFill>
            <a:srgbClr val="F4F2ED"/>
          </a:solidFill>
          <a:ln/>
        </p:spPr>
      </p:sp>
      <p:sp>
        <p:nvSpPr>
          <p:cNvPr id="10" name="Shape 7"/>
          <p:cNvSpPr/>
          <p:nvPr/>
        </p:nvSpPr>
        <p:spPr>
          <a:xfrm>
            <a:off x="6492240" y="2194560"/>
            <a:ext cx="502920" cy="502920"/>
          </a:xfrm>
          <a:prstGeom prst="ellipse">
            <a:avLst/>
          </a:prstGeom>
          <a:solidFill>
            <a:srgbClr val="B5654A"/>
          </a:solidFill>
          <a:ln/>
        </p:spPr>
      </p:sp>
      <p:pic>
        <p:nvPicPr>
          <p:cNvPr id="11" name="Image 1" descr="/private/tmp/claude-501/-Users-noasalton-Desktop-highlevelprog-HW-HW5-ap2026-hw5/8de498e0-0e34-46bd-ab05-d3b41bdb79c1/scratchpad/deck/icons/swap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7620" y="2259940"/>
            <a:ext cx="372161" cy="37216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178040" y="212140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623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Renter-initiated cancellation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7178040" y="2514600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 pending request; not in the original state table, a natural next feature.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40080" y="3611880"/>
            <a:ext cx="5257800" cy="1417320"/>
          </a:xfrm>
          <a:prstGeom prst="rect">
            <a:avLst>
              <a:gd name="adj" fmla="val 5161"/>
            </a:avLst>
          </a:prstGeom>
          <a:solidFill>
            <a:srgbClr val="F4F2ED"/>
          </a:solidFill>
          <a:ln/>
        </p:spPr>
      </p:sp>
      <p:sp>
        <p:nvSpPr>
          <p:cNvPr id="15" name="Shape 11"/>
          <p:cNvSpPr/>
          <p:nvPr/>
        </p:nvSpPr>
        <p:spPr>
          <a:xfrm>
            <a:off x="914400" y="3886200"/>
            <a:ext cx="502920" cy="502920"/>
          </a:xfrm>
          <a:prstGeom prst="ellipse">
            <a:avLst/>
          </a:prstGeom>
          <a:solidFill>
            <a:srgbClr val="B5654A"/>
          </a:solidFill>
          <a:ln/>
        </p:spPr>
      </p:sp>
      <p:pic>
        <p:nvPicPr>
          <p:cNvPr id="16" name="Image 2" descr="/private/tmp/claude-501/-Users-noasalton-Desktop-highlevelprog-HW-HW5-ap2026-hw5/8de498e0-0e34-46bd-ab05-d3b41bdb79c1/scratchpad/deck/icons/chart-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9780" y="3951580"/>
            <a:ext cx="372161" cy="37216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00200" y="381304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623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SQL-side admin aggregates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1600200" y="4206240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the bookings-by-status breakdown from JS to a single group by query.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217920" y="3611880"/>
            <a:ext cx="5257800" cy="1417320"/>
          </a:xfrm>
          <a:prstGeom prst="rect">
            <a:avLst>
              <a:gd name="adj" fmla="val 5161"/>
            </a:avLst>
          </a:prstGeom>
          <a:solidFill>
            <a:srgbClr val="F4F2ED"/>
          </a:solidFill>
          <a:ln/>
        </p:spPr>
      </p:sp>
      <p:sp>
        <p:nvSpPr>
          <p:cNvPr id="20" name="Shape 15"/>
          <p:cNvSpPr/>
          <p:nvPr/>
        </p:nvSpPr>
        <p:spPr>
          <a:xfrm>
            <a:off x="6492240" y="3886200"/>
            <a:ext cx="502920" cy="502920"/>
          </a:xfrm>
          <a:prstGeom prst="ellipse">
            <a:avLst/>
          </a:prstGeom>
          <a:solidFill>
            <a:srgbClr val="B5654A"/>
          </a:solidFill>
          <a:ln/>
        </p:spPr>
      </p:sp>
      <p:pic>
        <p:nvPicPr>
          <p:cNvPr id="21" name="Image 3" descr="/private/tmp/claude-501/-Users-noasalton-Desktop-highlevelprog-HW-HW5-ap2026-hw5/8de498e0-0e34-46bd-ab05-d3b41bdb79c1/scratchpad/deck/icons/check-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7620" y="3951580"/>
            <a:ext cx="372161" cy="372161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178040" y="381304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623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Automated coverage for both bugs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7178040" y="4206240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a regression fails CI instead of requiring manual re-verification.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ClosetSwap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623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15584" y="1371600"/>
            <a:ext cx="822960" cy="822960"/>
          </a:xfrm>
          <a:prstGeom prst="ellipse">
            <a:avLst/>
          </a:prstGeom>
          <a:solidFill>
            <a:srgbClr val="B5654A"/>
          </a:solidFill>
          <a:ln/>
        </p:spPr>
      </p:sp>
      <p:pic>
        <p:nvPicPr>
          <p:cNvPr id="3" name="Image 0" descr="/private/tmp/claude-501/-Users-noasalton-Desktop-highlevelprog-HW-HW5-ap2026-hw5/8de498e0-0e34-46bd-ab05-d3b41bdb79c1/scratchpad/deck/icons/star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22569" y="1478585"/>
            <a:ext cx="608990" cy="60899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0" y="2286000"/>
            <a:ext cx="121889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Questions?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0" y="3657600"/>
            <a:ext cx="1218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B56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APP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0" y="3950208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closetswap-nine.vercel.app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0" y="4526280"/>
            <a:ext cx="1218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B56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0" y="4818888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github.com/noaSalton/closetswap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0" y="6263640"/>
            <a:ext cx="12188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96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Noa Salton  ·  Internet Technologies  ·  RUNI CS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2026-08-30T10:14:40Z</dcterms:created>
  <dcterms:modified xsi:type="dcterms:W3CDTF">2026-08-30T10:14:40Z</dcterms:modified>
</cp:coreProperties>
</file>